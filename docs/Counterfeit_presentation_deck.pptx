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5460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288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Counterfeit Currency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Identification Agent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4008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computer-vision + rule-based system for screening Indian currency notes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40080" y="4160520"/>
            <a:ext cx="4206240" cy="4572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160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AI for Digital Public Safety — Counterfeit Currency Identification Agent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 ·  Trained ONNX classifier  ·  Explainable decision engine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 currency is a persistent, growing threat. RBI's own Annual Report data shows detections rising sharply year over year — and high-quality fakes are increasingly hard to catch through manual inspection alone at bank counters and retail points of sale.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legal way to obtain a labeled dataset of real counterfeit notes for training — so any credible system has to work within that constraint, not pretend it doesn't exist.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03720" y="1234440"/>
            <a:ext cx="4709160" cy="4206240"/>
          </a:xfrm>
          <a:prstGeom prst="roundRect">
            <a:avLst>
              <a:gd name="adj" fmla="val 1739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1508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 FICN detected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269480" y="18288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DD6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1,17,722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269480" y="2697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FY 2024-25 — up from 85,711 the year before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69480" y="3291840"/>
            <a:ext cx="3977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69480" y="3429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FICN pieces detected (all denominations)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69480" y="37490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C52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2,17,396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269480" y="4892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RBI Annual Report, FY 2024-25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This Submission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brief lists five illustrative example builds under the broader Digital Public Safety theme. This submission targets one of them directly, end to end: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Arrest Scam Detection &amp; Alerting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62072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86207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 Currency Identification Agent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01000" y="28620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this submission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75304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75304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Network Graph Intelligence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288536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288536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Crime Pattern Intelligence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001768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001768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Fraud Shield (Multi-channel)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8521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3E0"/>
          </a:solidFill>
          <a:ln w="12700">
            <a:solidFill>
              <a:srgbClr val="DD6B20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007608"/>
            <a:ext cx="502920" cy="5029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17320" y="58521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B3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focus areas for scam detection, fraud networks, and legal-admissibility packages belong to the other four illustrative tracks and are out of scope for this submission.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pic>
        <p:nvPicPr>
          <p:cNvPr id="3" name="Image 0" descr="/mnt/user-data/outputs/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Actually Learned vs. Rule-Based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precise about this distinction is central to the design of this system.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91440" cy="62179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Denomination classification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0" y="150876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ML — MobileNetV2 exported to ONNX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85416"/>
            <a:ext cx="91440" cy="62179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8541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boundary / alignment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0" y="2185416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(OpenCV contour); trained segmenter built, not yet trained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62072"/>
            <a:ext cx="91440" cy="62179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6207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/ numeral / text extraction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0" y="2862072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OCR (EasyOCR / Tesseract)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38728"/>
            <a:ext cx="91440" cy="62179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3872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consistency checks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538728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logic on top of OCR output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91440" cy="62179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15384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Microprint &amp; security thread scoring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0" y="4215384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image-quality proxies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91440" cy="62179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89204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verdict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0" y="489204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weighted sum + hard override rule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568696"/>
            <a:ext cx="91440" cy="621792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56869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/ IR verification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0" y="5568696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implemented — no data, no hardware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Design Choice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28016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“counterfeit detection” demos quietly assume a labeled fake-note dataset exists. It doesn't — not at scale, not publicly, for Indian currency across denominations.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2377440"/>
            <a:ext cx="10698480" cy="1600200"/>
          </a:xfrm>
          <a:prstGeom prst="roundRect">
            <a:avLst>
              <a:gd name="adj" fmla="val 4571"/>
            </a:avLst>
          </a:prstGeom>
          <a:solidFill>
            <a:srgbClr val="24345C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2377440"/>
            <a:ext cx="10058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learning what a forged note looks like, the system checks whether a note's own printed details agree with each other — denomination number, serial format, legal text, print quality, thread continuity.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40080" y="4160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Where's the “AI Agent” in this?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4663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 evidence autonomously from five independent signals, without a human choosing which checks to run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over that evidence with explicit logic — a weighted combination plus a hard override rule for a strong specific signal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decision and a plain-language justification for it, not just a number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honestly a rule-based reasoning agent, not an LLM-based one — stated plainly rather than dressed up.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Training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18872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currency-detection export (7 INR denominations)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75688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029968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Cross-split near-duplicate audit (perceptual hashing) — leaked duplicates found &amp; removed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16936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871216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reference photos merged in for ₹500 / ₹2000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758184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58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712464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transfer learning → ONNX export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040880" y="1234440"/>
            <a:ext cx="4572000" cy="1554480"/>
          </a:xfrm>
          <a:prstGeom prst="roundRect">
            <a:avLst>
              <a:gd name="adj" fmla="val 4706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60920" y="17373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18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96.6%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7040880" y="2971800"/>
            <a:ext cx="4572000" cy="1554480"/>
          </a:xfrm>
          <a:prstGeom prst="roundRect">
            <a:avLst>
              <a:gd name="adj" fmla="val 4706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3154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accuracy (never touched during training)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60920" y="3611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C52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88.5%</a:t>
            </a:r>
            <a:endParaRPr lang="en-US" sz="4400" dirty="0"/>
          </a:p>
        </p:txBody>
      </p:sp>
      <p:sp>
        <p:nvSpPr>
          <p:cNvPr id="21" name="Shape 19"/>
          <p:cNvSpPr/>
          <p:nvPr/>
        </p:nvSpPr>
        <p:spPr>
          <a:xfrm>
            <a:off x="7040880" y="470916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FF3E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47091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7B3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this way deliberately: test accuracy is lower than validation, and that gap is shown rather than hidden.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signals combine into one score. Every number comes with a plain-English reason.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signals (sum to 100%)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Microprint clarity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212080" y="2148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number check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212080" y="2606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0632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thread check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212080" y="3063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5204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Numeral consistency*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212080" y="35204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9776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quality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12080" y="3977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44348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Denomination confidence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212080" y="4434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8920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Promise-clause detection*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12080" y="4892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5394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*only active for denominations whose ROI template defines these checks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52360" y="1463040"/>
            <a:ext cx="4160520" cy="4480560"/>
          </a:xfrm>
          <a:prstGeom prst="roundRect">
            <a:avLst>
              <a:gd name="adj" fmla="val 1758"/>
            </a:avLst>
          </a:prstGeom>
          <a:solidFill>
            <a:srgbClr val="1A2744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737360"/>
            <a:ext cx="548640" cy="5486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458200" y="1737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Override Rule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772400" y="246888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OCR'd printed denomination number does not match the classified denomination, the verdict is forced to “suspicious” — regardless of how high every other score is.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7772400" y="4251960"/>
            <a:ext cx="3520440" cy="0"/>
          </a:xfrm>
          <a:prstGeom prst="line">
            <a:avLst/>
          </a:prstGeom>
          <a:noFill/>
          <a:ln w="12700">
            <a:solidFill>
              <a:srgbClr val="4A5A8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0" y="44348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deliberate: a confirmed numeral mismatch is a specific, strong signal that should not be averaged away by unrelated high scores elsewhere.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3995" y="1095414"/>
            <a:ext cx="11064240" cy="5120640"/>
          </a:xfrm>
          <a:prstGeom prst="roundRect">
            <a:avLst>
              <a:gd name="adj" fmla="val 1429"/>
            </a:avLst>
          </a:prstGeom>
          <a:solidFill>
            <a:srgbClr val="F7FAFC"/>
          </a:solidFill>
          <a:ln w="19050">
            <a:solidFill>
              <a:srgbClr val="E2E8F0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005840" y="320040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566928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http://localhost:8000/ui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7CA9A2-0537-10E8-C127-02888B964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441" y="1198316"/>
            <a:ext cx="9246637" cy="49148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641262-314A-D719-F432-47885DA035F7}"/>
              </a:ext>
            </a:extLst>
          </p:cNvPr>
          <p:cNvSpPr txBox="1"/>
          <p:nvPr/>
        </p:nvSpPr>
        <p:spPr>
          <a:xfrm>
            <a:off x="473995" y="237225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280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C984AA21-6AA2-8ADC-6A38-769002AD0EF2}"/>
              </a:ext>
            </a:extLst>
          </p:cNvPr>
          <p:cNvSpPr/>
          <p:nvPr/>
        </p:nvSpPr>
        <p:spPr>
          <a:xfrm>
            <a:off x="473995" y="1095414"/>
            <a:ext cx="11064240" cy="5389362"/>
          </a:xfrm>
          <a:prstGeom prst="roundRect">
            <a:avLst>
              <a:gd name="adj" fmla="val 1429"/>
            </a:avLst>
          </a:prstGeom>
          <a:solidFill>
            <a:srgbClr val="F7FAFC"/>
          </a:solidFill>
          <a:ln w="19050">
            <a:solidFill>
              <a:srgbClr val="E2E8F0"/>
            </a:solidFill>
            <a:prstDash val="dash"/>
          </a:ln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0B92DD-E094-29FB-FD11-7E13077AE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95" y="1075094"/>
            <a:ext cx="5208056" cy="54117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1389B6D-8A9E-88EF-E2EB-9F1169E72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368" y="1293326"/>
            <a:ext cx="5733335" cy="486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759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Mapped to Judging Criteria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887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92608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31920" y="11887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consistency screening as a deliberate, honest alternative to a fake-note classifier that has no data to train 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402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26080" y="2240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31920" y="2240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targets a quantified, growing problem (RBI FICN data); deployable at teller counters and POS terminals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Excellence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26080" y="3291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32918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ONNX classifier, pluggable backend architecture, dataset-leakage audit, 76-test automated suite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3434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926080" y="4343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31920" y="43434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API, pluggable ML backends (TFLite path exists), config-driven ROI system extends to new note designs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394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926080" y="5394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931920" y="53949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 UI, verdicts explained in plain English rather than a bare number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directly, not discovered by a judge asking a hard question.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28016" cy="128016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544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legal-grade or certified currency authentication claim is made anywhere in this system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404872"/>
            <a:ext cx="128016" cy="128016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317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/ IR verification is not implemented — no UV imagery in any available dataset, no UV-capable capture hardware used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182112"/>
            <a:ext cx="128016" cy="128016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108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coordinates are manually calibrated per denomination against reference photos, not learned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959352"/>
            <a:ext cx="128016" cy="128016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886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Microprint and security-thread checks are image-quality heuristics, not trained authenticity models — no labeled data exists to train them on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736592"/>
            <a:ext cx="128016" cy="128016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663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Note-boundary segmentation model is built but not yet trained; the heuristic contour detector is the active fallback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813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note-boundary segmenter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is already built — needs a training run on the existing polygon-annotated dataset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78608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68833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mobile inference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0815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the existing TFLite backend template for offline field use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85616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8953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Currency-specific OCR fine-tuning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428853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general-purpose EasyOCR/Tesseract with a model trained on actual note fonts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992624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1023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microprint / thread scoring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54955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on a labeled genuine/counterfeit dataset that does not currently exist — not a near-term item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4630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017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 Currency Identification Agent — 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1016</Words>
  <Application>Microsoft Office PowerPoint</Application>
  <PresentationFormat>Widescreen</PresentationFormat>
  <Paragraphs>133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Divyansh Chaurasia</cp:lastModifiedBy>
  <cp:revision>2</cp:revision>
  <dcterms:created xsi:type="dcterms:W3CDTF">2026-07-21T01:04:33Z</dcterms:created>
  <dcterms:modified xsi:type="dcterms:W3CDTF">2026-07-21T07:18:13Z</dcterms:modified>
</cp:coreProperties>
</file>